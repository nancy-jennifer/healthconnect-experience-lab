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99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ncy Lee YIMBERE" userId="8a1b71f57ff34a52" providerId="LiveId" clId="{887D3868-2807-40F6-92CC-956F31E3E280}"/>
    <pc:docChg chg="modSld">
      <pc:chgData name="Nancy Lee YIMBERE" userId="8a1b71f57ff34a52" providerId="LiveId" clId="{887D3868-2807-40F6-92CC-956F31E3E280}" dt="2026-09-26T12:51:44.017" v="5" actId="1036"/>
      <pc:docMkLst>
        <pc:docMk/>
      </pc:docMkLst>
      <pc:sldChg chg="modSp mod">
        <pc:chgData name="Nancy Lee YIMBERE" userId="8a1b71f57ff34a52" providerId="LiveId" clId="{887D3868-2807-40F6-92CC-956F31E3E280}" dt="2026-09-26T12:44:17.256" v="0" actId="20577"/>
        <pc:sldMkLst>
          <pc:docMk/>
          <pc:sldMk cId="0" sldId="257"/>
        </pc:sldMkLst>
        <pc:spChg chg="mod">
          <ac:chgData name="Nancy Lee YIMBERE" userId="8a1b71f57ff34a52" providerId="LiveId" clId="{887D3868-2807-40F6-92CC-956F31E3E280}" dt="2026-09-26T12:44:17.256" v="0" actId="20577"/>
          <ac:spMkLst>
            <pc:docMk/>
            <pc:sldMk cId="0" sldId="257"/>
            <ac:spMk id="29" creationId="{00000000-0000-0000-0000-000000000000}"/>
          </ac:spMkLst>
        </pc:spChg>
      </pc:sldChg>
      <pc:sldChg chg="modSp mod">
        <pc:chgData name="Nancy Lee YIMBERE" userId="8a1b71f57ff34a52" providerId="LiveId" clId="{887D3868-2807-40F6-92CC-956F31E3E280}" dt="2026-09-26T12:51:44.017" v="5" actId="1036"/>
        <pc:sldMkLst>
          <pc:docMk/>
          <pc:sldMk cId="0" sldId="264"/>
        </pc:sldMkLst>
        <pc:spChg chg="mod">
          <ac:chgData name="Nancy Lee YIMBERE" userId="8a1b71f57ff34a52" providerId="LiveId" clId="{887D3868-2807-40F6-92CC-956F31E3E280}" dt="2026-09-26T12:51:44.017" v="5" actId="1036"/>
          <ac:spMkLst>
            <pc:docMk/>
            <pc:sldMk cId="0" sldId="264"/>
            <ac:spMk id="2" creationId="{00000000-0000-0000-0000-000000000000}"/>
          </ac:spMkLst>
        </pc:spChg>
        <pc:spChg chg="mod">
          <ac:chgData name="Nancy Lee YIMBERE" userId="8a1b71f57ff34a52" providerId="LiveId" clId="{887D3868-2807-40F6-92CC-956F31E3E280}" dt="2026-09-26T12:51:40.087" v="4" actId="20577"/>
          <ac:spMkLst>
            <pc:docMk/>
            <pc:sldMk cId="0" sldId="264"/>
            <ac:spMk id="2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2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7589520" cy="16002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 Display"/>
              </a:rPr>
              <a:t>Improving Appointment Attendance
Through Data-Driven Decision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337560"/>
            <a:ext cx="6217920" cy="41148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600" b="1">
                <a:solidFill>
                  <a:srgbClr val="E0F4F0"/>
                </a:solidFill>
                <a:latin typeface="Aptos"/>
              </a:rPr>
              <a:t>HealthConnect Clinic Experience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858768"/>
            <a:ext cx="6217920" cy="34747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Data Analytics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4892040"/>
            <a:ext cx="6217920" cy="31089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Nancy Lee YIMBERE ALAPINI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5257800"/>
            <a:ext cx="6583680" cy="31089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200" b="0">
                <a:solidFill>
                  <a:srgbClr val="E0F4F0"/>
                </a:solidFill>
                <a:latin typeface="Aptos"/>
              </a:rPr>
              <a:t>Performance &amp; Decision Intelligence Analyst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92608"/>
            <a:ext cx="438912" cy="64008"/>
          </a:xfrm>
          <a:prstGeom prst="rect">
            <a:avLst/>
          </a:prstGeom>
          <a:solidFill>
            <a:srgbClr val="25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FFFFFF"/>
                </a:solidFill>
                <a:latin typeface="Aptos"/>
              </a:rPr>
              <a:t>HEALTHCONNECT  •  DATA ANALYTICS  •  WEEK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87968" y="749808"/>
            <a:ext cx="2212848" cy="2212848"/>
          </a:xfrm>
          <a:prstGeom prst="roundRect">
            <a:avLst/>
          </a:prstGeom>
          <a:solidFill>
            <a:srgbClr val="16697A"/>
          </a:solidFill>
          <a:ln w="19050">
            <a:solidFill>
              <a:srgbClr val="25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887968" y="749808"/>
            <a:ext cx="2212848" cy="512064"/>
          </a:xfrm>
          <a:prstGeom prst="rect">
            <a:avLst/>
          </a:prstGeom>
          <a:solidFill>
            <a:srgbClr val="25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308592" y="594360"/>
            <a:ext cx="164592" cy="384048"/>
          </a:xfrm>
          <a:prstGeom prst="roundRect">
            <a:avLst/>
          </a:prstGeom>
          <a:solidFill>
            <a:srgbClr val="E0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51592" y="594360"/>
            <a:ext cx="164592" cy="384048"/>
          </a:xfrm>
          <a:prstGeom prst="roundRect">
            <a:avLst/>
          </a:prstGeom>
          <a:solidFill>
            <a:srgbClr val="E0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253728" y="1490472"/>
            <a:ext cx="1444752" cy="502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253728" y="1874519"/>
            <a:ext cx="1444752" cy="502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253728" y="2258568"/>
            <a:ext cx="1444752" cy="502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241280" y="2157984"/>
            <a:ext cx="640080" cy="640080"/>
          </a:xfrm>
          <a:prstGeom prst="ellipse">
            <a:avLst/>
          </a:prstGeom>
          <a:solidFill>
            <a:srgbClr val="E6824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506456" y="2267712"/>
            <a:ext cx="109728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355580" y="2418588"/>
            <a:ext cx="41148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292608"/>
            <a:ext cx="438912" cy="64008"/>
          </a:xfrm>
          <a:prstGeom prst="rect">
            <a:avLst/>
          </a:prstGeom>
          <a:solidFill>
            <a:srgbClr val="25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66747C"/>
                </a:solidFill>
                <a:latin typeface="Aptos"/>
              </a:rPr>
              <a:t>HEALTHCONNECT  •  DATA ANALYTICS  •  WEEK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6747C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3035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23448"/>
                </a:solidFill>
                <a:latin typeface="Aptos Display"/>
              </a:rPr>
              <a:t>Missed appointments are a major operational challenge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214884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874519"/>
            <a:ext cx="64008" cy="1298448"/>
          </a:xfrm>
          <a:prstGeom prst="rect">
            <a:avLst/>
          </a:prstGeom>
          <a:solidFill>
            <a:srgbClr val="166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2039112"/>
            <a:ext cx="1828800" cy="5029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2300" b="1">
                <a:solidFill>
                  <a:srgbClr val="123448"/>
                </a:solidFill>
                <a:latin typeface="Aptos"/>
              </a:rPr>
              <a:t>5,000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569463"/>
            <a:ext cx="1828800" cy="34747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000" b="0">
                <a:solidFill>
                  <a:srgbClr val="66747C"/>
                </a:solidFill>
                <a:latin typeface="Aptos"/>
              </a:rPr>
              <a:t>Appointments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71215" y="2523744"/>
            <a:ext cx="365761" cy="0"/>
          </a:xfrm>
          <a:prstGeom prst="line">
            <a:avLst/>
          </a:prstGeom>
          <a:ln w="19050">
            <a:solidFill>
              <a:srgbClr val="6674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10128" y="1874519"/>
            <a:ext cx="214884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10128" y="1874519"/>
            <a:ext cx="64008" cy="1298448"/>
          </a:xfrm>
          <a:prstGeom prst="rect">
            <a:avLst/>
          </a:prstGeom>
          <a:solidFill>
            <a:srgbClr val="25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93008" y="2039112"/>
            <a:ext cx="1828800" cy="5029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2300" b="1">
                <a:solidFill>
                  <a:srgbClr val="123448"/>
                </a:solidFill>
                <a:latin typeface="Aptos"/>
              </a:rPr>
              <a:t>4,737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2569463"/>
            <a:ext cx="1828800" cy="34747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000" b="0">
                <a:solidFill>
                  <a:srgbClr val="66747C"/>
                </a:solidFill>
                <a:latin typeface="Aptos"/>
              </a:rPr>
              <a:t>Attendance-observable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522976" y="2523744"/>
            <a:ext cx="365760" cy="0"/>
          </a:xfrm>
          <a:prstGeom prst="line">
            <a:avLst/>
          </a:prstGeom>
          <a:ln w="19050">
            <a:solidFill>
              <a:srgbClr val="6674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961888" y="1874519"/>
            <a:ext cx="214884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61888" y="1874519"/>
            <a:ext cx="64008" cy="1298448"/>
          </a:xfrm>
          <a:prstGeom prst="rect">
            <a:avLst/>
          </a:prstGeom>
          <a:solidFill>
            <a:srgbClr val="E68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44768" y="2039112"/>
            <a:ext cx="1828800" cy="5029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2300" b="1">
                <a:solidFill>
                  <a:srgbClr val="123448"/>
                </a:solidFill>
                <a:latin typeface="Aptos"/>
              </a:rPr>
              <a:t>2,423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2569463"/>
            <a:ext cx="1828800" cy="34747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000" b="0">
                <a:solidFill>
                  <a:srgbClr val="66747C"/>
                </a:solidFill>
                <a:latin typeface="Aptos"/>
              </a:rPr>
              <a:t>No-Shows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174736" y="2523744"/>
            <a:ext cx="365760" cy="0"/>
          </a:xfrm>
          <a:prstGeom prst="line">
            <a:avLst/>
          </a:prstGeom>
          <a:ln w="19050">
            <a:solidFill>
              <a:srgbClr val="6674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613648" y="1874519"/>
            <a:ext cx="214884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613648" y="1874519"/>
            <a:ext cx="64008" cy="1298448"/>
          </a:xfrm>
          <a:prstGeom prst="rect">
            <a:avLst/>
          </a:prstGeom>
          <a:solidFill>
            <a:srgbClr val="B5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96528" y="2039112"/>
            <a:ext cx="1828800" cy="5029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2300" b="1">
                <a:solidFill>
                  <a:srgbClr val="123448"/>
                </a:solidFill>
                <a:latin typeface="Aptos"/>
              </a:rPr>
              <a:t>51.15%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96528" y="2569463"/>
            <a:ext cx="1828800" cy="34747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000" b="0">
                <a:solidFill>
                  <a:srgbClr val="66747C"/>
                </a:solidFill>
                <a:latin typeface="Aptos"/>
              </a:rPr>
              <a:t>No-Show Rate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977639"/>
            <a:ext cx="10789920" cy="1325880"/>
          </a:xfrm>
          <a:prstGeom prst="roundRect">
            <a:avLst/>
          </a:prstGeom>
          <a:solidFill>
            <a:srgbClr val="E0F4F0"/>
          </a:solidFill>
          <a:ln w="10160">
            <a:solidFill>
              <a:srgbClr val="E0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96112" y="4224528"/>
            <a:ext cx="1417320" cy="320040"/>
          </a:xfrm>
          <a:prstGeom prst="roundRect">
            <a:avLst/>
          </a:prstGeom>
          <a:solidFill>
            <a:srgbClr val="16697A"/>
          </a:solidFill>
          <a:ln w="10160">
            <a:solidFill>
              <a:srgbClr val="166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0976" y="4233672"/>
            <a:ext cx="1307592" cy="283464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DECISION QUESTION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4239780"/>
            <a:ext cx="7652801" cy="627864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800" b="1" dirty="0">
                <a:solidFill>
                  <a:srgbClr val="123448"/>
                </a:solidFill>
                <a:latin typeface="Aptos"/>
              </a:rPr>
              <a:t>Where should </a:t>
            </a:r>
            <a:r>
              <a:rPr sz="1800" b="1" dirty="0" err="1">
                <a:solidFill>
                  <a:srgbClr val="123448"/>
                </a:solidFill>
                <a:latin typeface="Aptos"/>
              </a:rPr>
              <a:t>HealthConnect</a:t>
            </a:r>
            <a:r>
              <a:rPr sz="1800" b="1" dirty="0">
                <a:solidFill>
                  <a:srgbClr val="123448"/>
                </a:solidFill>
                <a:latin typeface="Aptos"/>
              </a:rPr>
              <a:t> start if it wants to test attendance support 
and how should success be measured?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742432"/>
            <a:ext cx="1069848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850" b="0">
                <a:solidFill>
                  <a:srgbClr val="66747C"/>
                </a:solidFill>
                <a:latin typeface="Aptos"/>
              </a:rPr>
              <a:t>No-Show Rate uses the attendance-observable population (Attended + No-Show).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292608"/>
            <a:ext cx="438912" cy="64008"/>
          </a:xfrm>
          <a:prstGeom prst="rect">
            <a:avLst/>
          </a:prstGeom>
          <a:solidFill>
            <a:srgbClr val="25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66747C"/>
                </a:solidFill>
                <a:latin typeface="Aptos"/>
              </a:rPr>
              <a:t>HEALTHCONNECT  •  DATA ANALYTICS  •  WEEK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6747C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3035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23448"/>
                </a:solidFill>
                <a:latin typeface="Aptos Display"/>
              </a:rPr>
              <a:t>From appointment data to an actionable decision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214884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389888" y="1627632"/>
            <a:ext cx="658368" cy="658368"/>
          </a:xfrm>
          <a:prstGeom prst="ellipse">
            <a:avLst/>
          </a:prstGeom>
          <a:solidFill>
            <a:srgbClr val="166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99616" y="1755648"/>
            <a:ext cx="438912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331720"/>
            <a:ext cx="182880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123448"/>
                </a:solidFill>
                <a:latin typeface="Aptos"/>
              </a:rPr>
              <a:t>VALIDATE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816352"/>
            <a:ext cx="1783080" cy="64008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66747C"/>
                </a:solidFill>
                <a:latin typeface="Aptos"/>
              </a:rPr>
              <a:t>KPI definitions &amp;
analytical population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16352" y="2907792"/>
            <a:ext cx="457200" cy="0"/>
          </a:xfrm>
          <a:prstGeom prst="line">
            <a:avLst/>
          </a:prstGeom>
          <a:ln w="22860">
            <a:solidFill>
              <a:srgbClr val="25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37560" y="1965960"/>
            <a:ext cx="214884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087368" y="1627632"/>
            <a:ext cx="658368" cy="658368"/>
          </a:xfrm>
          <a:prstGeom prst="ellipse">
            <a:avLst/>
          </a:prstGeom>
          <a:solidFill>
            <a:srgbClr val="25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97096" y="1755648"/>
            <a:ext cx="438912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2331720"/>
            <a:ext cx="182880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123448"/>
                </a:solidFill>
                <a:latin typeface="Aptos"/>
              </a:rPr>
              <a:t>DIAGNOSE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816352"/>
            <a:ext cx="1783080" cy="64008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66747C"/>
                </a:solidFill>
                <a:latin typeface="Aptos"/>
              </a:rPr>
              <a:t>Compare observed
no-show patterns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513831" y="2907792"/>
            <a:ext cx="457200" cy="0"/>
          </a:xfrm>
          <a:prstGeom prst="line">
            <a:avLst/>
          </a:prstGeom>
          <a:ln w="22860">
            <a:solidFill>
              <a:srgbClr val="25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035040" y="1965960"/>
            <a:ext cx="214884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784848" y="1627632"/>
            <a:ext cx="658368" cy="658368"/>
          </a:xfrm>
          <a:prstGeom prst="ellipse">
            <a:avLst/>
          </a:prstGeom>
          <a:solidFill>
            <a:srgbClr val="E68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94575" y="1755648"/>
            <a:ext cx="438912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1" y="2331720"/>
            <a:ext cx="182880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123448"/>
                </a:solidFill>
                <a:latin typeface="Aptos"/>
              </a:rPr>
              <a:t>PRIORITISE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816352"/>
            <a:ext cx="1783080" cy="64008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66747C"/>
                </a:solidFill>
                <a:latin typeface="Aptos"/>
              </a:rPr>
              <a:t>Identify decision-
relevant groups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211312" y="2907792"/>
            <a:ext cx="457200" cy="0"/>
          </a:xfrm>
          <a:prstGeom prst="line">
            <a:avLst/>
          </a:prstGeom>
          <a:ln w="22860">
            <a:solidFill>
              <a:srgbClr val="25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732520" y="1965960"/>
            <a:ext cx="214884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482328" y="1627632"/>
            <a:ext cx="658368" cy="658368"/>
          </a:xfrm>
          <a:prstGeom prst="ellipse">
            <a:avLst/>
          </a:prstGeom>
          <a:solidFill>
            <a:srgbClr val="4A8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92056" y="1755648"/>
            <a:ext cx="438912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97112" y="2331720"/>
            <a:ext cx="182880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123448"/>
                </a:solidFill>
                <a:latin typeface="Aptos"/>
              </a:rPr>
              <a:t>TEST &amp; MEASURE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2816352"/>
            <a:ext cx="1783080" cy="64008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66747C"/>
                </a:solidFill>
                <a:latin typeface="Aptos"/>
              </a:rPr>
              <a:t>Evaluate support
before scaling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94560" y="4800600"/>
            <a:ext cx="7772400" cy="777240"/>
          </a:xfrm>
          <a:prstGeom prst="roundRect">
            <a:avLst/>
          </a:prstGeom>
          <a:solidFill>
            <a:srgbClr val="F6FAF9"/>
          </a:solidFill>
          <a:ln w="10160"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377440" y="4965192"/>
            <a:ext cx="7406640" cy="3657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23448"/>
                </a:solidFill>
                <a:latin typeface="Aptos"/>
              </a:rPr>
              <a:t>5,000 appointment records  |  Appointment-level observational analysis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7408" y="5742432"/>
            <a:ext cx="3383280" cy="2743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850" b="0">
                <a:solidFill>
                  <a:srgbClr val="66747C"/>
                </a:solidFill>
                <a:latin typeface="Aptos"/>
              </a:rPr>
              <a:t>Python  •  SQL  •  Power BI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292608"/>
            <a:ext cx="438912" cy="64008"/>
          </a:xfrm>
          <a:prstGeom prst="rect">
            <a:avLst/>
          </a:prstGeom>
          <a:solidFill>
            <a:srgbClr val="25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66747C"/>
                </a:solidFill>
                <a:latin typeface="Aptos"/>
              </a:rPr>
              <a:t>HEALTHCONNECT  •  DATA ANALYTICS  •  WEEK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6747C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3035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23448"/>
                </a:solidFill>
                <a:latin typeface="Aptos Display"/>
              </a:rPr>
              <a:t>Longer booking lead times show the strongest no-show differentiation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879130"/>
            <a:ext cx="804672" cy="1195789"/>
          </a:xfrm>
          <a:prstGeom prst="rect">
            <a:avLst/>
          </a:prstGeom>
          <a:solidFill>
            <a:srgbClr val="166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3485938"/>
            <a:ext cx="950976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123448"/>
                </a:solidFill>
                <a:latin typeface="Aptos"/>
              </a:rPr>
              <a:t>29.47%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5166359"/>
            <a:ext cx="1042416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00" b="0">
                <a:solidFill>
                  <a:srgbClr val="66747C"/>
                </a:solidFill>
                <a:latin typeface="Aptos"/>
              </a:rPr>
              <a:t>0–7 days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31136" y="3647032"/>
            <a:ext cx="804672" cy="1427887"/>
          </a:xfrm>
          <a:prstGeom prst="rect">
            <a:avLst/>
          </a:prstGeom>
          <a:solidFill>
            <a:srgbClr val="166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57984" y="3253840"/>
            <a:ext cx="950976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123448"/>
                </a:solidFill>
                <a:latin typeface="Aptos"/>
              </a:rPr>
              <a:t>35.19%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12264" y="5166359"/>
            <a:ext cx="1042416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00" b="0">
                <a:solidFill>
                  <a:srgbClr val="66747C"/>
                </a:solidFill>
                <a:latin typeface="Aptos"/>
              </a:rPr>
              <a:t>8–14 days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7872" y="3227471"/>
            <a:ext cx="804672" cy="1847448"/>
          </a:xfrm>
          <a:prstGeom prst="rect">
            <a:avLst/>
          </a:prstGeom>
          <a:solidFill>
            <a:srgbClr val="166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2834279"/>
            <a:ext cx="950976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123448"/>
                </a:solidFill>
                <a:latin typeface="Aptos"/>
              </a:rPr>
              <a:t>45.53%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5166359"/>
            <a:ext cx="1042416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00" b="0">
                <a:solidFill>
                  <a:srgbClr val="66747C"/>
                </a:solidFill>
                <a:latin typeface="Aptos"/>
              </a:rPr>
              <a:t>15–30 days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64608" y="2760842"/>
            <a:ext cx="804672" cy="2314077"/>
          </a:xfrm>
          <a:prstGeom prst="rect">
            <a:avLst/>
          </a:prstGeom>
          <a:solidFill>
            <a:srgbClr val="E68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91456" y="2367650"/>
            <a:ext cx="950976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123448"/>
                </a:solidFill>
                <a:latin typeface="Aptos"/>
              </a:rPr>
              <a:t>57.03%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5736" y="5166359"/>
            <a:ext cx="1042416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00" b="0">
                <a:solidFill>
                  <a:srgbClr val="66747C"/>
                </a:solidFill>
                <a:latin typeface="Aptos"/>
              </a:rPr>
              <a:t>31–45 days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2179380"/>
            <a:ext cx="804672" cy="2895539"/>
          </a:xfrm>
          <a:prstGeom prst="rect">
            <a:avLst/>
          </a:prstGeom>
          <a:solidFill>
            <a:srgbClr val="E68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08192" y="1786188"/>
            <a:ext cx="950976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123448"/>
                </a:solidFill>
                <a:latin typeface="Aptos"/>
              </a:rPr>
              <a:t>71.36%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62472" y="5166359"/>
            <a:ext cx="1042416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00" b="0">
                <a:solidFill>
                  <a:srgbClr val="66747C"/>
                </a:solidFill>
                <a:latin typeface="Aptos"/>
              </a:rPr>
              <a:t>46–60 days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49808" y="5074920"/>
            <a:ext cx="6309360" cy="0"/>
          </a:xfrm>
          <a:prstGeom prst="line">
            <a:avLst/>
          </a:prstGeom>
          <a:ln w="12700">
            <a:solidFill>
              <a:srgbClr val="DD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635240" y="1828800"/>
            <a:ext cx="3566160" cy="1965960"/>
          </a:xfrm>
          <a:prstGeom prst="roundRect">
            <a:avLst/>
          </a:prstGeom>
          <a:solidFill>
            <a:srgbClr val="E0F4F0"/>
          </a:solidFill>
          <a:ln w="10160">
            <a:solidFill>
              <a:srgbClr val="E0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79" y="2148840"/>
            <a:ext cx="2926080" cy="38404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123448"/>
                </a:solidFill>
                <a:latin typeface="Aptos"/>
              </a:rPr>
              <a:t>39.13%  →  63.95%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3568" y="2651760"/>
            <a:ext cx="2880360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0">
                <a:solidFill>
                  <a:srgbClr val="66747C"/>
                </a:solidFill>
                <a:latin typeface="Aptos"/>
              </a:rPr>
              <a:t>0–30 days   vs   31–60 days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3090672"/>
            <a:ext cx="2880360" cy="38404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E68248"/>
                </a:solidFill>
                <a:latin typeface="Aptos"/>
              </a:rPr>
              <a:t>+24.82pp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4297680"/>
            <a:ext cx="1417320" cy="320040"/>
          </a:xfrm>
          <a:prstGeom prst="roundRect">
            <a:avLst/>
          </a:prstGeom>
          <a:solidFill>
            <a:srgbClr val="16697A"/>
          </a:solidFill>
          <a:ln w="10160">
            <a:solidFill>
              <a:srgbClr val="166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90104" y="4306824"/>
            <a:ext cx="1307592" cy="283464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PRIORITISE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4224528"/>
            <a:ext cx="2057400" cy="5943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000" b="1">
                <a:solidFill>
                  <a:srgbClr val="123448"/>
                </a:solidFill>
                <a:latin typeface="Aptos"/>
              </a:rPr>
              <a:t>Start attendance-support
evaluation with longer-lead appointments.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815584"/>
            <a:ext cx="6217920" cy="25603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850" b="0">
                <a:solidFill>
                  <a:srgbClr val="66747C"/>
                </a:solidFill>
                <a:latin typeface="Aptos"/>
              </a:rPr>
              <a:t>Booking Lead Time (days before appointment)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292608"/>
            <a:ext cx="438912" cy="64008"/>
          </a:xfrm>
          <a:prstGeom prst="rect">
            <a:avLst/>
          </a:prstGeom>
          <a:solidFill>
            <a:srgbClr val="25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66747C"/>
                </a:solidFill>
                <a:latin typeface="Aptos"/>
              </a:rPr>
              <a:t>HEALTHCONNECT  •  DATA ANALYTICS  •  WEEK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6747C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3035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23448"/>
                </a:solidFill>
                <a:latin typeface="Aptos Display"/>
              </a:rPr>
              <a:t>Recorded history helps refine where to evaluate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2971800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050" b="1">
                <a:solidFill>
                  <a:srgbClr val="123448"/>
                </a:solidFill>
                <a:latin typeface="Aptos"/>
              </a:rPr>
              <a:t>0–30 days · History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84831"/>
            <a:ext cx="2103120" cy="22860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819" b="0">
                <a:solidFill>
                  <a:srgbClr val="66747C"/>
                </a:solidFill>
                <a:latin typeface="Aptos"/>
              </a:rPr>
              <a:t>n = 1,428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1737360"/>
            <a:ext cx="2150371" cy="502920"/>
          </a:xfrm>
          <a:prstGeom prst="rect">
            <a:avLst/>
          </a:prstGeom>
          <a:solidFill>
            <a:srgbClr val="166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00579" y="1792224"/>
            <a:ext cx="914400" cy="2743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200" b="1">
                <a:solidFill>
                  <a:srgbClr val="123448"/>
                </a:solidFill>
                <a:latin typeface="Aptos"/>
              </a:rPr>
              <a:t>34.52%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15768"/>
            <a:ext cx="2971800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050" b="1">
                <a:solidFill>
                  <a:srgbClr val="123448"/>
                </a:solidFill>
                <a:latin typeface="Aptos"/>
              </a:rPr>
              <a:t>0–30 days · History ≥1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17520"/>
            <a:ext cx="2103120" cy="22860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819" b="0">
                <a:solidFill>
                  <a:srgbClr val="66747C"/>
                </a:solidFill>
                <a:latin typeface="Aptos"/>
              </a:rPr>
              <a:t>n = 1,015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2670048"/>
            <a:ext cx="2841829" cy="502920"/>
          </a:xfrm>
          <a:prstGeom prst="rect">
            <a:avLst/>
          </a:prstGeom>
          <a:solidFill>
            <a:srgbClr val="166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2037" y="2724912"/>
            <a:ext cx="914400" cy="2743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200" b="1">
                <a:solidFill>
                  <a:srgbClr val="123448"/>
                </a:solidFill>
                <a:latin typeface="Aptos"/>
              </a:rPr>
              <a:t>45.62%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48456"/>
            <a:ext cx="2971800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050" b="1">
                <a:solidFill>
                  <a:srgbClr val="123448"/>
                </a:solidFill>
                <a:latin typeface="Aptos"/>
              </a:rPr>
              <a:t>31–60 days · History =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950208"/>
            <a:ext cx="2103120" cy="22860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819" b="0">
                <a:solidFill>
                  <a:srgbClr val="66747C"/>
                </a:solidFill>
                <a:latin typeface="Aptos"/>
              </a:rPr>
              <a:t>n = 1,317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3602736"/>
            <a:ext cx="3679677" cy="502920"/>
          </a:xfrm>
          <a:prstGeom prst="rect">
            <a:avLst/>
          </a:prstGeom>
          <a:solidFill>
            <a:srgbClr val="E68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29885" y="3657600"/>
            <a:ext cx="914400" cy="2743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200" b="1">
                <a:solidFill>
                  <a:srgbClr val="123448"/>
                </a:solidFill>
                <a:latin typeface="Aptos"/>
              </a:rPr>
              <a:t>59.07%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81144"/>
            <a:ext cx="2971800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050" b="1">
                <a:solidFill>
                  <a:srgbClr val="123448"/>
                </a:solidFill>
                <a:latin typeface="Aptos"/>
              </a:rPr>
              <a:t>31–60 days · History ≥1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882896"/>
            <a:ext cx="2103120" cy="22860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819" b="0">
                <a:solidFill>
                  <a:srgbClr val="66747C"/>
                </a:solidFill>
                <a:latin typeface="Aptos"/>
              </a:rPr>
              <a:t>n = 977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4535424"/>
            <a:ext cx="4392937" cy="502920"/>
          </a:xfrm>
          <a:prstGeom prst="rect">
            <a:avLst/>
          </a:prstGeom>
          <a:solidFill>
            <a:srgbClr val="E68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43145" y="4590288"/>
            <a:ext cx="914400" cy="2743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200" b="1">
                <a:solidFill>
                  <a:srgbClr val="123448"/>
                </a:solidFill>
                <a:latin typeface="Aptos"/>
              </a:rPr>
              <a:t>70.52%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25712" y="1828800"/>
            <a:ext cx="2331720" cy="2331720"/>
          </a:xfrm>
          <a:prstGeom prst="roundRect">
            <a:avLst/>
          </a:prstGeom>
          <a:solidFill>
            <a:srgbClr val="E0F4F0"/>
          </a:solidFill>
          <a:ln w="10160">
            <a:solidFill>
              <a:srgbClr val="E0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0" y="2103120"/>
            <a:ext cx="1920240" cy="86868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23448"/>
                </a:solidFill>
                <a:latin typeface="Aptos"/>
              </a:rPr>
              <a:t>Lead Time
sets the priority.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063240"/>
            <a:ext cx="1920240" cy="68580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6697A"/>
                </a:solidFill>
                <a:latin typeface="Aptos"/>
              </a:rPr>
              <a:t>Recorded history
refines it.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25712" y="4617720"/>
            <a:ext cx="1234440" cy="320040"/>
          </a:xfrm>
          <a:prstGeom prst="roundRect">
            <a:avLst/>
          </a:prstGeom>
          <a:solidFill>
            <a:srgbClr val="16697A"/>
          </a:solidFill>
          <a:ln w="10160">
            <a:solidFill>
              <a:srgbClr val="166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80576" y="4626864"/>
            <a:ext cx="1124712" cy="283464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REFINE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712" y="5029200"/>
            <a:ext cx="2331720" cy="56692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930" b="1">
                <a:solidFill>
                  <a:srgbClr val="123448"/>
                </a:solidFill>
                <a:latin typeface="Aptos"/>
              </a:rPr>
              <a:t>Use recorded previous no-shows as complementary group-level information.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943600"/>
            <a:ext cx="7955279" cy="2743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850" b="0">
                <a:solidFill>
                  <a:srgbClr val="66747C"/>
                </a:solidFill>
                <a:latin typeface="Aptos"/>
              </a:rPr>
              <a:t>Observed groups — not individual risk predictions.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292608"/>
            <a:ext cx="438912" cy="64008"/>
          </a:xfrm>
          <a:prstGeom prst="rect">
            <a:avLst/>
          </a:prstGeom>
          <a:solidFill>
            <a:srgbClr val="25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66747C"/>
                </a:solidFill>
                <a:latin typeface="Aptos"/>
              </a:rPr>
              <a:t>HEALTHCONNECT  •  DATA ANALYTICS  •  WEEK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6747C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3035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23448"/>
                </a:solidFill>
                <a:latin typeface="Aptos Display"/>
              </a:rPr>
              <a:t>The evidence supports a test-and-measure strategy — not immediate rollout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57400"/>
            <a:ext cx="196596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2304288"/>
            <a:ext cx="1325880" cy="320040"/>
          </a:xfrm>
          <a:prstGeom prst="roundRect">
            <a:avLst/>
          </a:prstGeom>
          <a:solidFill>
            <a:srgbClr val="16697A"/>
          </a:solidFill>
          <a:ln w="10160">
            <a:solidFill>
              <a:srgbClr val="166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9264" y="2313432"/>
            <a:ext cx="1216152" cy="283464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PRIORITISE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926080"/>
            <a:ext cx="1645920" cy="62179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123448"/>
                </a:solidFill>
                <a:latin typeface="Aptos"/>
              </a:rPr>
              <a:t>Longer lead time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87752" y="3035808"/>
            <a:ext cx="219456" cy="0"/>
          </a:xfrm>
          <a:prstGeom prst="line">
            <a:avLst/>
          </a:prstGeom>
          <a:ln w="22860">
            <a:solidFill>
              <a:srgbClr val="25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52928" y="2057400"/>
            <a:ext cx="196596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172968" y="2304288"/>
            <a:ext cx="1325880" cy="320040"/>
          </a:xfrm>
          <a:prstGeom prst="roundRect">
            <a:avLst/>
          </a:prstGeom>
          <a:solidFill>
            <a:srgbClr val="259999"/>
          </a:solidFill>
          <a:ln w="10160">
            <a:solidFill>
              <a:srgbClr val="25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27832" y="2313432"/>
            <a:ext cx="1216152" cy="283464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926080"/>
            <a:ext cx="1645920" cy="62179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123448"/>
                </a:solidFill>
                <a:latin typeface="Aptos"/>
              </a:rPr>
              <a:t>Recorded previous
no-shows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46320" y="3035808"/>
            <a:ext cx="219456" cy="0"/>
          </a:xfrm>
          <a:prstGeom prst="line">
            <a:avLst/>
          </a:prstGeom>
          <a:ln w="22860">
            <a:solidFill>
              <a:srgbClr val="25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11496" y="2057400"/>
            <a:ext cx="196596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431536" y="2304288"/>
            <a:ext cx="1325880" cy="320040"/>
          </a:xfrm>
          <a:prstGeom prst="roundRect">
            <a:avLst/>
          </a:prstGeom>
          <a:solidFill>
            <a:srgbClr val="E68248"/>
          </a:solidFill>
          <a:ln w="10160">
            <a:solidFill>
              <a:srgbClr val="E68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399" y="2313432"/>
            <a:ext cx="1216152" cy="283464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6088" y="2926080"/>
            <a:ext cx="1645920" cy="62179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123448"/>
                </a:solidFill>
                <a:latin typeface="Aptos"/>
              </a:rPr>
              <a:t>Attendance-support
intervention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04888" y="3035808"/>
            <a:ext cx="219456" cy="0"/>
          </a:xfrm>
          <a:prstGeom prst="line">
            <a:avLst/>
          </a:prstGeom>
          <a:ln w="22860">
            <a:solidFill>
              <a:srgbClr val="25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370064" y="2057400"/>
            <a:ext cx="196596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690104" y="2304288"/>
            <a:ext cx="1325880" cy="320040"/>
          </a:xfrm>
          <a:prstGeom prst="roundRect">
            <a:avLst/>
          </a:prstGeom>
          <a:solidFill>
            <a:srgbClr val="4A8969"/>
          </a:solidFill>
          <a:ln w="10160">
            <a:solidFill>
              <a:srgbClr val="4A8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44968" y="2313432"/>
            <a:ext cx="1216152" cy="283464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MEASURE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34656" y="2926080"/>
            <a:ext cx="1645920" cy="62179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123448"/>
                </a:solidFill>
                <a:latin typeface="Aptos"/>
              </a:rPr>
              <a:t>No-Show Rate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363456" y="3035808"/>
            <a:ext cx="219456" cy="0"/>
          </a:xfrm>
          <a:prstGeom prst="line">
            <a:avLst/>
          </a:prstGeom>
          <a:ln w="22860">
            <a:solidFill>
              <a:srgbClr val="25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628632" y="2057400"/>
            <a:ext cx="196596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948672" y="2304288"/>
            <a:ext cx="1325880" cy="320040"/>
          </a:xfrm>
          <a:prstGeom prst="roundRect">
            <a:avLst/>
          </a:prstGeom>
          <a:solidFill>
            <a:srgbClr val="123448"/>
          </a:solidFill>
          <a:ln w="10160">
            <a:solidFill>
              <a:srgbClr val="12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03536" y="2313432"/>
            <a:ext cx="1216152" cy="283464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DECIDE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93224" y="2926080"/>
            <a:ext cx="1645920" cy="62179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123448"/>
                </a:solidFill>
                <a:latin typeface="Aptos"/>
              </a:rPr>
              <a:t>Extend · Adjust · Stop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4892040"/>
            <a:ext cx="8549640" cy="749808"/>
          </a:xfrm>
          <a:prstGeom prst="roundRect">
            <a:avLst/>
          </a:prstGeom>
          <a:solidFill>
            <a:srgbClr val="E0F4F0"/>
          </a:solidFill>
          <a:ln w="10160">
            <a:solidFill>
              <a:srgbClr val="E0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057400" y="5084064"/>
            <a:ext cx="8092440" cy="34747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23448"/>
                </a:solidFill>
                <a:latin typeface="Aptos"/>
              </a:rPr>
              <a:t>Define the reference comparison and monitoring KPI before the test.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292608"/>
            <a:ext cx="438912" cy="64008"/>
          </a:xfrm>
          <a:prstGeom prst="rect">
            <a:avLst/>
          </a:prstGeom>
          <a:solidFill>
            <a:srgbClr val="25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66747C"/>
                </a:solidFill>
                <a:latin typeface="Aptos"/>
              </a:rPr>
              <a:t>HEALTHCONNECT  •  DATA ANALYTICS  •  WEEK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6747C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3035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23448"/>
                </a:solidFill>
                <a:latin typeface="Aptos Display"/>
              </a:rPr>
              <a:t>Cross-track testing changed two modelling decisions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5166360" cy="2468880"/>
          </a:xfrm>
          <a:prstGeom prst="roundRect">
            <a:avLst/>
          </a:prstGeom>
          <a:solidFill>
            <a:srgbClr val="F6FAF9"/>
          </a:solidFill>
          <a:ln w="10160"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93392"/>
            <a:ext cx="4480560" cy="329184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23448"/>
                </a:solidFill>
                <a:latin typeface="Aptos"/>
              </a:rPr>
              <a:t>long_lead_followup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2578608"/>
            <a:ext cx="1874519" cy="320040"/>
          </a:xfrm>
          <a:prstGeom prst="roundRect">
            <a:avLst/>
          </a:prstGeom>
          <a:solidFill>
            <a:srgbClr val="B54E4E"/>
          </a:solidFill>
          <a:ln w="10160">
            <a:solidFill>
              <a:srgbClr val="B54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86584" y="2587751"/>
            <a:ext cx="1764791" cy="283464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REMOVED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182112"/>
            <a:ext cx="4251960" cy="53035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66747C"/>
                </a:solidFill>
                <a:latin typeface="Aptos"/>
              </a:rPr>
              <a:t>No meaningful incremental predictive
value demonstrated.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7648" y="1691640"/>
            <a:ext cx="5166360" cy="2468880"/>
          </a:xfrm>
          <a:prstGeom prst="roundRect">
            <a:avLst/>
          </a:prstGeom>
          <a:solidFill>
            <a:srgbClr val="F6FAF9"/>
          </a:solidFill>
          <a:ln w="10160"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01968" y="1993392"/>
            <a:ext cx="4480560" cy="329184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23448"/>
                </a:solidFill>
                <a:latin typeface="Aptos"/>
              </a:rPr>
              <a:t>distance_to_clinic_km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07808" y="2578608"/>
            <a:ext cx="2514600" cy="320040"/>
          </a:xfrm>
          <a:prstGeom prst="roundRect">
            <a:avLst/>
          </a:prstGeom>
          <a:solidFill>
            <a:srgbClr val="4A8969"/>
          </a:solidFill>
          <a:ln w="10160">
            <a:solidFill>
              <a:srgbClr val="4A8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62672" y="2587751"/>
            <a:ext cx="2404872" cy="283464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RETAINED IN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3182112"/>
            <a:ext cx="4251960" cy="53035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66747C"/>
                </a:solidFill>
                <a:latin typeface="Aptos"/>
              </a:rPr>
              <a:t>Modest but consistent multivariable
contribution.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65960" y="4434840"/>
            <a:ext cx="8229600" cy="640080"/>
          </a:xfrm>
          <a:prstGeom prst="roundRect">
            <a:avLst/>
          </a:prstGeom>
          <a:solidFill>
            <a:srgbClr val="E0F4F0"/>
          </a:solidFill>
          <a:ln w="10160">
            <a:solidFill>
              <a:srgbClr val="E0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40280" y="4590288"/>
            <a:ext cx="768096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23448"/>
                </a:solidFill>
                <a:latin typeface="Aptos"/>
              </a:rPr>
              <a:t>Analytics evidence  ≠  Predictive contribution  ≠  Causality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468112"/>
            <a:ext cx="2057400" cy="2743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850" b="1">
                <a:solidFill>
                  <a:srgbClr val="16697A"/>
                </a:solidFill>
                <a:latin typeface="Aptos"/>
              </a:rPr>
              <a:t>PROJECT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422392"/>
            <a:ext cx="8503920" cy="45720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950" b="0">
                <a:solidFill>
                  <a:srgbClr val="66747C"/>
                </a:solidFill>
                <a:latin typeface="Aptos"/>
              </a:rPr>
              <a:t>Handoff provided and integration requested.  •  No PM feedback received before finalisation.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292608"/>
            <a:ext cx="438912" cy="64008"/>
          </a:xfrm>
          <a:prstGeom prst="rect">
            <a:avLst/>
          </a:prstGeom>
          <a:solidFill>
            <a:srgbClr val="25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66747C"/>
                </a:solidFill>
                <a:latin typeface="Aptos"/>
              </a:rPr>
              <a:t>HEALTHCONNECT  •  DATA ANALYTICS  •  WEEK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6747C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3035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23448"/>
                </a:solidFill>
                <a:latin typeface="Aptos Display"/>
              </a:rPr>
              <a:t>What the evidence supports — and what it does not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3154680" cy="3154680"/>
          </a:xfrm>
          <a:prstGeom prst="roundRect">
            <a:avLst/>
          </a:prstGeom>
          <a:solidFill>
            <a:srgbClr val="F6FAF9"/>
          </a:solidFill>
          <a:ln w="10160"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316736" y="2011680"/>
            <a:ext cx="1828800" cy="320040"/>
          </a:xfrm>
          <a:prstGeom prst="roundRect">
            <a:avLst/>
          </a:prstGeom>
          <a:solidFill>
            <a:srgbClr val="4A8969"/>
          </a:solidFill>
          <a:ln w="10160">
            <a:solidFill>
              <a:srgbClr val="4A8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2020824"/>
            <a:ext cx="1719072" cy="283464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OBSERVED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2761488"/>
            <a:ext cx="2514600" cy="7315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123448"/>
                </a:solidFill>
                <a:latin typeface="Aptos"/>
              </a:rPr>
              <a:t>Group-level
differences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3730752"/>
            <a:ext cx="2514600" cy="34747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4A8969"/>
                </a:solidFill>
                <a:latin typeface="Aptos"/>
              </a:rPr>
              <a:t>SUPPORTED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24528" y="1737360"/>
            <a:ext cx="3154680" cy="3154680"/>
          </a:xfrm>
          <a:prstGeom prst="roundRect">
            <a:avLst/>
          </a:prstGeom>
          <a:solidFill>
            <a:srgbClr val="F6FAF9"/>
          </a:solidFill>
          <a:ln w="10160"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882896" y="2011680"/>
            <a:ext cx="1828800" cy="320040"/>
          </a:xfrm>
          <a:prstGeom prst="roundRect">
            <a:avLst/>
          </a:prstGeom>
          <a:solidFill>
            <a:srgbClr val="B54E4E"/>
          </a:solidFill>
          <a:ln w="10160">
            <a:solidFill>
              <a:srgbClr val="B54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59" y="2020824"/>
            <a:ext cx="1719072" cy="283464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NOT ESTABLISHED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761488"/>
            <a:ext cx="2514600" cy="7315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123448"/>
                </a:solidFill>
                <a:latin typeface="Aptos"/>
              </a:rPr>
              <a:t>Individual deterministic
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3730752"/>
            <a:ext cx="2514600" cy="34747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B54E4E"/>
                </a:solidFill>
                <a:latin typeface="Aptos"/>
              </a:rPr>
              <a:t>NOT SUPPORTED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90688" y="1737360"/>
            <a:ext cx="3154680" cy="3154680"/>
          </a:xfrm>
          <a:prstGeom prst="roundRect">
            <a:avLst/>
          </a:prstGeom>
          <a:solidFill>
            <a:srgbClr val="F6FAF9"/>
          </a:solidFill>
          <a:ln w="10160"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49056" y="2011680"/>
            <a:ext cx="1828800" cy="320040"/>
          </a:xfrm>
          <a:prstGeom prst="roundRect">
            <a:avLst/>
          </a:prstGeom>
          <a:solidFill>
            <a:srgbClr val="E68248"/>
          </a:solidFill>
          <a:ln w="10160">
            <a:solidFill>
              <a:srgbClr val="E68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0" y="2020824"/>
            <a:ext cx="1719072" cy="283464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NOT ESTABLISHED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0727" y="2761488"/>
            <a:ext cx="2514600" cy="7315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123448"/>
                </a:solidFill>
                <a:latin typeface="Aptos"/>
              </a:rPr>
              <a:t>Causal intervention
effect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0727" y="3730752"/>
            <a:ext cx="2514600" cy="34747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E68248"/>
                </a:solidFill>
                <a:latin typeface="Aptos"/>
              </a:rPr>
              <a:t>NOT YET TESTED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5212080"/>
            <a:ext cx="10058400" cy="566928"/>
          </a:xfrm>
          <a:prstGeom prst="roundRect">
            <a:avLst/>
          </a:prstGeom>
          <a:solidFill>
            <a:srgbClr val="E0F4F0"/>
          </a:solidFill>
          <a:ln w="10160">
            <a:solidFill>
              <a:srgbClr val="E0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34440" y="5330952"/>
            <a:ext cx="9692640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880" b="0">
                <a:solidFill>
                  <a:srgbClr val="123448"/>
                </a:solidFill>
                <a:latin typeface="Aptos"/>
              </a:rPr>
              <a:t>Patient-history consistency is limited  •  Some Distance and Waiting Time values are missing  •  Extreme segments are sparse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5766"/>
            <a:ext cx="12191999" cy="6858000"/>
          </a:xfrm>
          <a:prstGeom prst="rect">
            <a:avLst/>
          </a:prstGeom>
          <a:solidFill>
            <a:srgbClr val="12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292608"/>
            <a:ext cx="438912" cy="64008"/>
          </a:xfrm>
          <a:prstGeom prst="rect">
            <a:avLst/>
          </a:prstGeom>
          <a:solidFill>
            <a:srgbClr val="25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FFFFFF"/>
                </a:solidFill>
                <a:latin typeface="Aptos"/>
              </a:rPr>
              <a:t>HEALTHCONNECT  •  DATA ANALYTICS  •  WEEK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30352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 Display"/>
              </a:rPr>
              <a:t>Start where the evidence is strongest — then measure before scaling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28800"/>
            <a:ext cx="2788920" cy="1828800"/>
          </a:xfrm>
          <a:prstGeom prst="roundRect">
            <a:avLst/>
          </a:prstGeom>
          <a:solidFill>
            <a:srgbClr val="1C4356"/>
          </a:solidFill>
          <a:ln w="19050">
            <a:solidFill>
              <a:srgbClr val="166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2029968"/>
            <a:ext cx="502920" cy="502920"/>
          </a:xfrm>
          <a:prstGeom prst="ellipse">
            <a:avLst/>
          </a:prstGeom>
          <a:solidFill>
            <a:srgbClr val="166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14983" y="2121408"/>
            <a:ext cx="301752" cy="22860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84831"/>
            <a:ext cx="1737360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PRIORITISE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5" y="2788920"/>
            <a:ext cx="2212848" cy="5943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E0F4F0"/>
                </a:solidFill>
                <a:latin typeface="Aptos"/>
              </a:rPr>
              <a:t>Longer booking
lead times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02736" y="2743200"/>
            <a:ext cx="393192" cy="0"/>
          </a:xfrm>
          <a:prstGeom prst="line">
            <a:avLst/>
          </a:prstGeom>
          <a:ln w="22860">
            <a:solidFill>
              <a:srgbClr val="25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160520" y="1828800"/>
            <a:ext cx="2788920" cy="1828800"/>
          </a:xfrm>
          <a:prstGeom prst="roundRect">
            <a:avLst/>
          </a:prstGeom>
          <a:solidFill>
            <a:srgbClr val="1C4356"/>
          </a:solidFill>
          <a:ln w="19050">
            <a:solidFill>
              <a:srgbClr val="25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325112" y="2029968"/>
            <a:ext cx="502920" cy="502920"/>
          </a:xfrm>
          <a:prstGeom prst="ellipse">
            <a:avLst/>
          </a:prstGeom>
          <a:solidFill>
            <a:srgbClr val="25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25696" y="2121408"/>
            <a:ext cx="301752" cy="22860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65192" y="2084831"/>
            <a:ext cx="1737360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REFINE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2788920"/>
            <a:ext cx="2212848" cy="5943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E0F4F0"/>
                </a:solidFill>
                <a:latin typeface="Aptos"/>
              </a:rPr>
              <a:t>Recorded previous
no-shows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13448" y="2743200"/>
            <a:ext cx="393192" cy="0"/>
          </a:xfrm>
          <a:prstGeom prst="line">
            <a:avLst/>
          </a:prstGeom>
          <a:ln w="22860">
            <a:solidFill>
              <a:srgbClr val="25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571231" y="1828800"/>
            <a:ext cx="2788920" cy="1828800"/>
          </a:xfrm>
          <a:prstGeom prst="roundRect">
            <a:avLst/>
          </a:prstGeom>
          <a:solidFill>
            <a:srgbClr val="1C4356"/>
          </a:solidFill>
          <a:ln w="19050">
            <a:solidFill>
              <a:srgbClr val="E68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735823" y="2029968"/>
            <a:ext cx="502920" cy="502920"/>
          </a:xfrm>
          <a:prstGeom prst="ellipse">
            <a:avLst/>
          </a:prstGeom>
          <a:solidFill>
            <a:srgbClr val="E68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36407" y="2121408"/>
            <a:ext cx="301752" cy="22860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2084831"/>
            <a:ext cx="1737360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TEST &amp; MEASURE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788920"/>
            <a:ext cx="2212848" cy="5943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E0F4F0"/>
                </a:solidFill>
                <a:latin typeface="Aptos"/>
              </a:rPr>
              <a:t>Attendance support
+ No-Show Rate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343400"/>
            <a:ext cx="10378440" cy="1234440"/>
          </a:xfrm>
          <a:prstGeom prst="roundRect">
            <a:avLst/>
          </a:prstGeom>
          <a:solidFill>
            <a:srgbClr val="1C4356"/>
          </a:solidFill>
          <a:ln w="10160">
            <a:solidFill>
              <a:srgbClr val="1C4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070817" y="4682037"/>
            <a:ext cx="8065605" cy="566309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ptos"/>
              </a:rPr>
              <a:t>The value of the analysis is not only identifying where no-shows are higher </a:t>
            </a:r>
            <a:r>
              <a:rPr lang="fr-FR" sz="1600" b="1" dirty="0">
                <a:solidFill>
                  <a:srgbClr val="FFFFFF"/>
                </a:solidFill>
                <a:latin typeface="Aptos"/>
              </a:rPr>
              <a:t>.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
</a:t>
            </a:r>
            <a:r>
              <a:rPr lang="fr-FR" sz="1600" b="1" dirty="0">
                <a:solidFill>
                  <a:srgbClr val="FFFFFF"/>
                </a:solidFill>
                <a:latin typeface="Aptos"/>
              </a:rPr>
              <a:t>I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t is helping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HealthConnect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decide where to act first and how to learn from that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5925312"/>
            <a:ext cx="274320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E0F4F0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559</Words>
  <Application>Microsoft Office PowerPoint</Application>
  <PresentationFormat>Grand écran</PresentationFormat>
  <Paragraphs>130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HealthConnect Stakeholder Presentation — Week 8</dc:title>
  <dc:subject>HealthConnect Final Analytics &amp; Decision Support</dc:subject>
  <dc:creator>Nancy Lee YIMBERE ALAPINI</dc:creator>
  <cp:keywords>HealthConnect, AnalystLab Africa, Week 8, Data Analytics, Decision Support</cp:keywords>
  <dc:description>generated using python-pptx</dc:description>
  <cp:lastModifiedBy>Nancy Lee YIMBERE</cp:lastModifiedBy>
  <cp:revision>1</cp:revision>
  <dcterms:created xsi:type="dcterms:W3CDTF">2013-01-27T09:14:16Z</dcterms:created>
  <dcterms:modified xsi:type="dcterms:W3CDTF">2026-09-26T12:51:50Z</dcterms:modified>
  <cp:category/>
</cp:coreProperties>
</file>